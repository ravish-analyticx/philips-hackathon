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31"/>
  </p:sldMasterIdLst>
  <p:notesMasterIdLst>
    <p:notesMasterId r:id="rId43"/>
  </p:notesMasterIdLst>
  <p:handoutMasterIdLst>
    <p:handoutMasterId r:id="rId44"/>
  </p:handoutMasterIdLst>
  <p:sldIdLst>
    <p:sldId id="2147482513" r:id="rId32"/>
    <p:sldId id="2147482520" r:id="rId33"/>
    <p:sldId id="2147482521" r:id="rId34"/>
    <p:sldId id="2147482536" r:id="rId35"/>
    <p:sldId id="2147482512" r:id="rId36"/>
    <p:sldId id="2147482532" r:id="rId37"/>
    <p:sldId id="2147482533" r:id="rId38"/>
    <p:sldId id="2147482535" r:id="rId39"/>
    <p:sldId id="2147482534" r:id="rId40"/>
    <p:sldId id="2147482538" r:id="rId41"/>
    <p:sldId id="2147482499" r:id="rId4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2147482513"/>
            <p14:sldId id="2147482520"/>
            <p14:sldId id="2147482521"/>
            <p14:sldId id="2147482536"/>
            <p14:sldId id="2147482512"/>
            <p14:sldId id="2147482532"/>
            <p14:sldId id="2147482533"/>
            <p14:sldId id="2147482535"/>
            <p14:sldId id="2147482534"/>
            <p14:sldId id="2147482538"/>
            <p14:sldId id="21474824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5B2A2-7A3B-485D-B775-B53179733AD8}" v="7" dt="2024-11-01T16:31:31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017" autoAdjust="0"/>
  </p:normalViewPr>
  <p:slideViewPr>
    <p:cSldViewPr snapToGrid="0">
      <p:cViewPr varScale="1">
        <p:scale>
          <a:sx n="67" d="100"/>
          <a:sy n="67" d="100"/>
        </p:scale>
        <p:origin x="1284" y="44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slide" Target="slides/slide8.xml"/><Relationship Id="rId21" Type="http://schemas.openxmlformats.org/officeDocument/2006/relationships/customXml" Target="../customXml/item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slide" Target="slides/slide5.xml"/><Relationship Id="rId49" Type="http://schemas.microsoft.com/office/2015/10/relationships/revisionInfo" Target="revisionInfo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Master" Target="slideMasters/slideMaster1.xml"/><Relationship Id="rId44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slide" Target="slides/slide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viewProps" Target="viewProps.xml"/><Relationship Id="rId20" Type="http://schemas.openxmlformats.org/officeDocument/2006/relationships/customXml" Target="../customXml/item20.xml"/><Relationship Id="rId41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11/15/2025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B9E3-B817-8965-21DA-89ACA863B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01652-D39B-6198-BFB5-0AE6F2842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20339-051B-0173-CA1C-2D7451376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28406-7F5B-D095-ABDA-1AEB4710F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58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13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3A1D2-1FCF-F287-A525-DE3F5956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7826C-2E4C-65AF-4300-6400DFB09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AE9BA-EBA9-FE35-2586-80D3B0BBB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Feature clarity for data transactions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D21F5-2229-151D-0232-F64585E28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64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DE20-6F31-09BC-FED3-28B22C3D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6E60F-111E-A750-2B83-FA57F354D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97B1D-0787-D63C-4CB4-688CBF550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F7381-A6BB-1E7C-824D-48911C4E5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249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313E4-B590-CFA4-2C97-AF8B0BB23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AA144-69F3-2436-2738-A689405D1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516CC-5CA5-E429-7E9A-D58195986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3F833-40C3-BB8C-2D93-E3545DBF1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13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FD8E-9D4B-BD7E-21FE-706B3616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0B7DB-EFAF-3525-E823-B5BD78EF4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13E32-6FCA-354A-1150-CAD86538C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CCDB2-0FE6-7E63-F439-4B2340318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450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EBCA-01CA-EF16-2EE4-21C3E08C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E21CE-8522-96DB-4E88-B75CE070D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BCF80-E445-44D0-AA6E-26F37E41D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all the transformation done on the training data., also on the test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E6B26-526E-BBDC-D488-B24579CF2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616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129C-B1A1-6A09-D1AE-451AAA35A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81B2F-9DAD-42D0-792F-27588576E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BD7ED-3D9E-A50E-D8CE-2D7F904E3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all the transformation done on the training data., also on the test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89C2A-6A71-AE52-72E7-F71EF19E2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095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7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6.png"/><Relationship Id="rId2" Type="http://schemas.openxmlformats.org/officeDocument/2006/relationships/customXml" Target="../../customXml/item16.xml"/><Relationship Id="rId1" Type="http://schemas.openxmlformats.org/officeDocument/2006/relationships/customXml" Target="../../customXml/item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18.xml"/><Relationship Id="rId1" Type="http://schemas.openxmlformats.org/officeDocument/2006/relationships/customXml" Target="../../customXml/item17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20.xml"/><Relationship Id="rId1" Type="http://schemas.openxmlformats.org/officeDocument/2006/relationships/customXml" Target="../../customXml/item19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22.xml"/><Relationship Id="rId1" Type="http://schemas.openxmlformats.org/officeDocument/2006/relationships/customXml" Target="../../customXml/item2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24.xml"/><Relationship Id="rId1" Type="http://schemas.openxmlformats.org/officeDocument/2006/relationships/customXml" Target="../../customXml/item23.xml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26.png"/><Relationship Id="rId2" Type="http://schemas.openxmlformats.org/officeDocument/2006/relationships/customXml" Target="../../customXml/item26.xml"/><Relationship Id="rId1" Type="http://schemas.openxmlformats.org/officeDocument/2006/relationships/customXml" Target="../../customXml/item25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28.xml"/><Relationship Id="rId1" Type="http://schemas.openxmlformats.org/officeDocument/2006/relationships/customXml" Target="../../customXml/item27.xml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30.xml"/><Relationship Id="rId1" Type="http://schemas.openxmlformats.org/officeDocument/2006/relationships/customXml" Target="../../customXml/item29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E1CBD6-C9EE-CDA1-A0F0-4BEBD85E36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15-Nov-2025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100C58-667D-017D-E3DB-73A0B4F9F5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2920" y="2261381"/>
            <a:ext cx="6035040" cy="1207008"/>
          </a:xfrm>
        </p:spPr>
        <p:txBody>
          <a:bodyPr/>
          <a:lstStyle/>
          <a:p>
            <a:r>
              <a:rPr lang="en-US" sz="4000" dirty="0"/>
              <a:t>Hackathon - 2025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227AC2-B5C1-4F62-BB78-FDB5FC4531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/>
              <a:t>FP&amp;A Digital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B700F9-5F20-775E-E02A-3AA0593017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929188"/>
            <a:ext cx="200025" cy="90487"/>
          </a:xfrm>
        </p:spPr>
        <p:txBody>
          <a:bodyPr/>
          <a:lstStyle/>
          <a:p>
            <a:fld id="{A5163908-529D-4A49-892F-D37C4044DFD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116AC-1805-AF2C-1F5F-54409B5D04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9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4E0F0-C56B-4373-F8FA-40F38B275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BBE8F-5FA4-07D8-1C5B-03305F4E5C9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data generated from a mix of </a:t>
            </a:r>
            <a:r>
              <a:rPr lang="en-US" b="1"/>
              <a:t>LLMs</a:t>
            </a:r>
            <a:r>
              <a:rPr lang="en-US"/>
              <a:t> (</a:t>
            </a:r>
            <a:r>
              <a:rPr lang="en-US" i="1"/>
              <a:t>ChatGPT, Gemini, Claude</a:t>
            </a:r>
            <a:r>
              <a:rPr lang="en-US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87111-F13E-A7BC-7A78-F3D6909AA0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8240FF-A5F8-B165-65F8-4982B12CC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47" y="123444"/>
            <a:ext cx="8138160" cy="404042"/>
          </a:xfrm>
        </p:spPr>
        <p:txBody>
          <a:bodyPr/>
          <a:lstStyle/>
          <a:p>
            <a:r>
              <a:rPr lang="en-US" b="1" dirty="0"/>
              <a:t>Facility Information &amp; Accessibility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C56C8B-BEE6-3187-D249-9580BA4C0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37" y="675621"/>
            <a:ext cx="470857" cy="542510"/>
          </a:xfrm>
          <a:prstGeom prst="rect">
            <a:avLst/>
          </a:prstGeom>
        </p:spPr>
      </p:pic>
      <p:sp>
        <p:nvSpPr>
          <p:cNvPr id="11" name="Title 5">
            <a:extLst>
              <a:ext uri="{FF2B5EF4-FFF2-40B4-BE49-F238E27FC236}">
                <a16:creationId xmlns:a16="http://schemas.microsoft.com/office/drawing/2014/main" id="{05EBAEBB-A1BA-9CEA-9670-2C7617B87B92}"/>
              </a:ext>
            </a:extLst>
          </p:cNvPr>
          <p:cNvSpPr txBox="1">
            <a:spLocks/>
          </p:cNvSpPr>
          <p:nvPr/>
        </p:nvSpPr>
        <p:spPr>
          <a:xfrm>
            <a:off x="951085" y="723829"/>
            <a:ext cx="8138160" cy="4040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/>
              <a:t>Exits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ABD1793C-2410-BB52-AB3A-96281A5874F4}"/>
              </a:ext>
            </a:extLst>
          </p:cNvPr>
          <p:cNvSpPr txBox="1">
            <a:spLocks/>
          </p:cNvSpPr>
          <p:nvPr/>
        </p:nvSpPr>
        <p:spPr>
          <a:xfrm>
            <a:off x="951085" y="1118640"/>
            <a:ext cx="7469184" cy="3360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1"/>
                </a:solidFill>
              </a:rPr>
              <a:t>Clearly marked emergency exits are available at both ends of the floor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F21197-C40C-2643-EE59-F43674A8D2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247" y="1632888"/>
            <a:ext cx="457240" cy="5105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77E7C8-F1D0-25AF-1F3D-BB2D3305A7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380" y="2645867"/>
            <a:ext cx="434378" cy="4724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9E7A05-2CFB-2C30-82BB-4F7A568FD3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937" y="3750959"/>
            <a:ext cx="510584" cy="434378"/>
          </a:xfrm>
          <a:prstGeom prst="rect">
            <a:avLst/>
          </a:prstGeom>
        </p:spPr>
      </p:pic>
      <p:sp>
        <p:nvSpPr>
          <p:cNvPr id="19" name="Title 5">
            <a:extLst>
              <a:ext uri="{FF2B5EF4-FFF2-40B4-BE49-F238E27FC236}">
                <a16:creationId xmlns:a16="http://schemas.microsoft.com/office/drawing/2014/main" id="{EFAFA1C1-1060-66DE-5F48-D54729214EE0}"/>
              </a:ext>
            </a:extLst>
          </p:cNvPr>
          <p:cNvSpPr txBox="1">
            <a:spLocks/>
          </p:cNvSpPr>
          <p:nvPr/>
        </p:nvSpPr>
        <p:spPr>
          <a:xfrm>
            <a:off x="951085" y="1674901"/>
            <a:ext cx="1993996" cy="4040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/>
              <a:t>Restrooms</a:t>
            </a:r>
          </a:p>
        </p:txBody>
      </p:sp>
      <p:sp>
        <p:nvSpPr>
          <p:cNvPr id="20" name="Title 5">
            <a:extLst>
              <a:ext uri="{FF2B5EF4-FFF2-40B4-BE49-F238E27FC236}">
                <a16:creationId xmlns:a16="http://schemas.microsoft.com/office/drawing/2014/main" id="{19BEF561-62C1-E8A6-7BB0-944C678F7412}"/>
              </a:ext>
            </a:extLst>
          </p:cNvPr>
          <p:cNvSpPr txBox="1">
            <a:spLocks/>
          </p:cNvSpPr>
          <p:nvPr/>
        </p:nvSpPr>
        <p:spPr>
          <a:xfrm>
            <a:off x="951085" y="2078943"/>
            <a:ext cx="6233486" cy="3360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1"/>
                </a:solidFill>
              </a:rPr>
              <a:t>Located on the right and left side from the event conducting room</a:t>
            </a:r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D61BD117-BDA1-8087-F394-8E8AC68D0017}"/>
              </a:ext>
            </a:extLst>
          </p:cNvPr>
          <p:cNvSpPr txBox="1">
            <a:spLocks/>
          </p:cNvSpPr>
          <p:nvPr/>
        </p:nvSpPr>
        <p:spPr>
          <a:xfrm>
            <a:off x="951085" y="2665903"/>
            <a:ext cx="1993996" cy="4040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/>
              <a:t>Drinking Water </a:t>
            </a:r>
          </a:p>
        </p:txBody>
      </p:sp>
      <p:sp>
        <p:nvSpPr>
          <p:cNvPr id="22" name="Title 5">
            <a:extLst>
              <a:ext uri="{FF2B5EF4-FFF2-40B4-BE49-F238E27FC236}">
                <a16:creationId xmlns:a16="http://schemas.microsoft.com/office/drawing/2014/main" id="{79565AC4-6529-5499-115D-BB93E7E3FCBA}"/>
              </a:ext>
            </a:extLst>
          </p:cNvPr>
          <p:cNvSpPr txBox="1">
            <a:spLocks/>
          </p:cNvSpPr>
          <p:nvPr/>
        </p:nvSpPr>
        <p:spPr>
          <a:xfrm>
            <a:off x="951085" y="3052306"/>
            <a:ext cx="7241830" cy="3360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1"/>
                </a:solidFill>
              </a:rPr>
              <a:t>Water dispensers are placed near the restrooms and cafeteria entrance</a:t>
            </a: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B6DE54A5-6366-F37D-4CE0-DA9DFB1EA7ED}"/>
              </a:ext>
            </a:extLst>
          </p:cNvPr>
          <p:cNvSpPr txBox="1">
            <a:spLocks/>
          </p:cNvSpPr>
          <p:nvPr/>
        </p:nvSpPr>
        <p:spPr>
          <a:xfrm>
            <a:off x="951085" y="3767128"/>
            <a:ext cx="1993996" cy="4040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/>
              <a:t>Cafeteria</a:t>
            </a:r>
          </a:p>
        </p:txBody>
      </p:sp>
      <p:sp>
        <p:nvSpPr>
          <p:cNvPr id="24" name="Title 5">
            <a:extLst>
              <a:ext uri="{FF2B5EF4-FFF2-40B4-BE49-F238E27FC236}">
                <a16:creationId xmlns:a16="http://schemas.microsoft.com/office/drawing/2014/main" id="{5AEDB52F-5A22-2936-77C3-63409236A50A}"/>
              </a:ext>
            </a:extLst>
          </p:cNvPr>
          <p:cNvSpPr txBox="1">
            <a:spLocks/>
          </p:cNvSpPr>
          <p:nvPr/>
        </p:nvSpPr>
        <p:spPr>
          <a:xfrm>
            <a:off x="951085" y="4171170"/>
            <a:ext cx="7335911" cy="3360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1"/>
                </a:solidFill>
              </a:rPr>
              <a:t>Cafeteria is available on the 5th floor.  Snacks can be collected from the area 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outside the event room.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44831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EB2C54-BE55-6DB7-C961-F6740BEF68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5299" y="4882896"/>
            <a:ext cx="5486400" cy="91440"/>
          </a:xfrm>
        </p:spPr>
        <p:txBody>
          <a:bodyPr/>
          <a:lstStyle/>
          <a:p>
            <a:pPr lvl="0">
              <a:defRPr/>
            </a:pPr>
            <a:r>
              <a:rPr lang="en-US" sz="1000">
                <a:solidFill>
                  <a:srgbClr val="000000">
                    <a:lumMod val="65000"/>
                    <a:lumOff val="35000"/>
                  </a:srgbClr>
                </a:solidFill>
              </a:rPr>
              <a:t>DATA: https://github.com/ravish-analyticx/Philips-Hackathon/tree/main/Resource_Allocation_Agent</a:t>
            </a:r>
            <a:endParaRPr kumimoji="0" lang="en-US" sz="100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9035A-5B2A-9CE9-0552-B9BAB6E236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63908-529D-4A49-892F-D37C4044DFD8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4F57BB-3069-B50D-1C61-AC0BF071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123" y="95566"/>
            <a:ext cx="8138160" cy="719137"/>
          </a:xfrm>
        </p:spPr>
        <p:txBody>
          <a:bodyPr/>
          <a:lstStyle/>
          <a:p>
            <a:r>
              <a:rPr lang="en-US" b="1"/>
              <a:t>Resource Allocation AI Agent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BB5C5CC-F65F-5DA0-F1FC-811A10B8D1BE}"/>
              </a:ext>
            </a:extLst>
          </p:cNvPr>
          <p:cNvSpPr txBox="1">
            <a:spLocks/>
          </p:cNvSpPr>
          <p:nvPr/>
        </p:nvSpPr>
        <p:spPr>
          <a:xfrm>
            <a:off x="182123" y="574174"/>
            <a:ext cx="8138160" cy="5186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OBJECTIVE: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Design and deploy an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Agentic AI system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that automates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resource management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for the Field Service Team by intelligently assigning technicians when service requests are received from hospitals.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11BD4A-6056-5CAE-7C08-C7C2B40E0D50}"/>
              </a:ext>
            </a:extLst>
          </p:cNvPr>
          <p:cNvSpPr txBox="1">
            <a:spLocks/>
          </p:cNvSpPr>
          <p:nvPr/>
        </p:nvSpPr>
        <p:spPr>
          <a:xfrm>
            <a:off x="182123" y="1252774"/>
            <a:ext cx="8655218" cy="1567607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BUSINESS CONTEXT:</a:t>
            </a:r>
          </a:p>
          <a:p>
            <a:pPr marL="146304" marR="0" lvl="0" indent="-146304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Philips medical equipment — such as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MR OEM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and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Ultrasound systems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— are installed in hospitals worldwide.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Service requests may arise for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new installations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,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annual maintenance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, or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device malfunctions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.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Currently, assigning technicians requires manual intervention.</a:t>
            </a:r>
          </a:p>
          <a:p>
            <a:pPr marL="146304" marR="0" lvl="0" indent="-146304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We aim to build an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AI-powered agent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that autonomously allocates the right technician to each request based on the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required skills, expertise, and availability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, eliminating the need for human coordination.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36312C-20EB-BD32-CB48-EE2D4E1908F9}"/>
              </a:ext>
            </a:extLst>
          </p:cNvPr>
          <p:cNvSpPr txBox="1">
            <a:spLocks/>
          </p:cNvSpPr>
          <p:nvPr/>
        </p:nvSpPr>
        <p:spPr>
          <a:xfrm>
            <a:off x="182123" y="3025845"/>
            <a:ext cx="6534403" cy="1983797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EXPECTED OUTCOME:</a:t>
            </a:r>
          </a:p>
          <a:p>
            <a:pPr marL="146304" marR="0" lvl="0" indent="-146304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Intelligently match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service requests with suitable technicians using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multi-criteria decision-making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(skills, experience, location, availability).</a:t>
            </a:r>
          </a:p>
          <a:p>
            <a:pPr marL="146304" marR="0" lvl="0" indent="-146304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Automate resource allocation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by updating the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Resource Allocation Excel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 with assigned technicians in real time.</a:t>
            </a:r>
          </a:p>
          <a:p>
            <a:pPr marL="146304" marR="0" lvl="0" indent="-146304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Streamline field operations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t>, reducing manual effort and improving response times.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B9AD49-DE9A-6D05-6633-669F8FB85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526" y="2774503"/>
            <a:ext cx="2120815" cy="187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9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656D68-7D35-105A-EA5A-AA5BFA1133E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9E1C3-9357-3E8A-8CA1-3B5C9BEDEB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 Multispecialty hospital is requesting Philips for IGT-D Post-installation Calibration &amp; Acceptance Testing. We need to </a:t>
            </a:r>
            <a:r>
              <a:rPr lang="en-US" b="1"/>
              <a:t>set up an Al system </a:t>
            </a:r>
            <a:r>
              <a:rPr lang="en-US"/>
              <a:t>which finds the right service engineer who is not allocated in any project and specialized in the required services. </a:t>
            </a:r>
          </a:p>
          <a:p>
            <a:pPr marL="0" indent="0">
              <a:buNone/>
            </a:pPr>
            <a:r>
              <a:rPr lang="en-US"/>
              <a:t>The data contains 2 sheets</a:t>
            </a:r>
          </a:p>
          <a:p>
            <a:pPr marL="0" indent="0">
              <a:buNone/>
            </a:pPr>
            <a:r>
              <a:rPr lang="en-US"/>
              <a:t>		- </a:t>
            </a:r>
            <a:r>
              <a:rPr lang="en-US" i="1" u="sng"/>
              <a:t>Employee Sheet</a:t>
            </a:r>
            <a:r>
              <a:rPr lang="en-US"/>
              <a:t>: Contains description about employee and their specialized services</a:t>
            </a:r>
          </a:p>
          <a:p>
            <a:pPr marL="0" indent="0">
              <a:buNone/>
            </a:pPr>
            <a:r>
              <a:rPr lang="en-US"/>
              <a:t>		- </a:t>
            </a:r>
            <a:r>
              <a:rPr lang="en-US" i="1" u="sng"/>
              <a:t>Current Project</a:t>
            </a:r>
            <a:r>
              <a:rPr lang="en-US"/>
              <a:t>: Contains employee tagged with associated project details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759E8E-0445-AF2B-000F-8CAD7FA1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53" y="383861"/>
            <a:ext cx="8138160" cy="719137"/>
          </a:xfrm>
        </p:spPr>
        <p:txBody>
          <a:bodyPr/>
          <a:lstStyle/>
          <a:p>
            <a:r>
              <a:rPr lang="en-US" b="1"/>
              <a:t>AI Agent - Use Case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1ADACAD8-3EAA-7EE8-BAE1-BF25CE14C2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5299" y="4882896"/>
            <a:ext cx="5486400" cy="91440"/>
          </a:xfrm>
        </p:spPr>
        <p:txBody>
          <a:bodyPr/>
          <a:lstStyle/>
          <a:p>
            <a:pPr lvl="0">
              <a:defRPr/>
            </a:pPr>
            <a:r>
              <a:rPr lang="en-US" sz="1000">
                <a:solidFill>
                  <a:srgbClr val="000000">
                    <a:lumMod val="65000"/>
                    <a:lumOff val="35000"/>
                  </a:srgbClr>
                </a:solidFill>
              </a:rPr>
              <a:t>DATA: https://github.com/ravish-analyticx/Philips-Hackathon/tree/main/Resource_Allocation_Agent</a:t>
            </a:r>
            <a:endParaRPr kumimoji="0" lang="en-US" sz="100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66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3667-7728-A97F-55B3-BF00CCF8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3AC83-7234-DD5A-A91D-C988BD926B5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63908-529D-4A49-892F-D37C4044DFD8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0E4E25-3C1A-1C38-A8D9-6EB888F727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6556" y="576772"/>
            <a:ext cx="8138160" cy="795436"/>
          </a:xfrm>
        </p:spPr>
        <p:txBody>
          <a:bodyPr vert="horz" lIns="0" tIns="0" rIns="0" bIns="0" spcCol="324000" rtlCol="0" anchor="t">
            <a:noAutofit/>
          </a:bodyPr>
          <a:lstStyle/>
          <a:p>
            <a:pPr marL="0" indent="0">
              <a:buNone/>
            </a:pPr>
            <a:r>
              <a:rPr lang="en-US" b="1">
                <a:latin typeface="Calibri"/>
                <a:cs typeface="Calibri Light"/>
              </a:rPr>
              <a:t>OBJECTIVE</a:t>
            </a:r>
          </a:p>
          <a:p>
            <a:pPr marL="0" indent="0">
              <a:buNone/>
            </a:pPr>
            <a:r>
              <a:rPr lang="en-US"/>
              <a:t>The goal is to develop an anomaly detection system that automatically identifies unusual financial entries within the company’s accounting system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2D510F-3D94-42DF-6003-CE7AB0E6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18472"/>
            <a:ext cx="8138160" cy="426223"/>
          </a:xfrm>
        </p:spPr>
        <p:txBody>
          <a:bodyPr/>
          <a:lstStyle/>
          <a:p>
            <a:r>
              <a:rPr lang="en-US" b="1"/>
              <a:t>Outlier / Anomaly Detection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4497AE1-7C18-5A2D-0F16-9E1FB0AE2291}"/>
              </a:ext>
            </a:extLst>
          </p:cNvPr>
          <p:cNvSpPr txBox="1">
            <a:spLocks/>
          </p:cNvSpPr>
          <p:nvPr/>
        </p:nvSpPr>
        <p:spPr>
          <a:xfrm>
            <a:off x="566556" y="1569695"/>
            <a:ext cx="8138160" cy="1680652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What</a:t>
            </a:r>
            <a:r>
              <a:rPr lang="en-US" b="1">
                <a:solidFill>
                  <a:srgbClr val="000000"/>
                </a:solidFill>
                <a:latin typeface="Calibri"/>
                <a:ea typeface="Yu Gothic"/>
                <a:cs typeface="Calibri Light"/>
              </a:rPr>
              <a:t> </a:t>
            </a:r>
            <a:r>
              <a:rPr lang="en-US" b="1"/>
              <a:t>exactly outlier means?</a:t>
            </a:r>
          </a:p>
          <a:p>
            <a:pPr marL="0" marR="0" lvl="0" indent="0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Yu Gothic"/>
                <a:cs typeface="Calibri Light"/>
              </a:rPr>
              <a:t>	</a:t>
            </a: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Yu Gothic"/>
              <a:cs typeface="Calibri Light"/>
            </a:endParaRPr>
          </a:p>
        </p:txBody>
      </p:sp>
      <p:pic>
        <p:nvPicPr>
          <p:cNvPr id="3077" name="Picture 5" descr="DataTechNotes: Anomaly Detection Example With OPTICS Method in Python">
            <a:extLst>
              <a:ext uri="{FF2B5EF4-FFF2-40B4-BE49-F238E27FC236}">
                <a16:creationId xmlns:a16="http://schemas.microsoft.com/office/drawing/2014/main" id="{9D51D0D2-4789-1B54-B49F-A2BAC62066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9" t="11749" r="9001" b="5250"/>
          <a:stretch>
            <a:fillRect/>
          </a:stretch>
        </p:blipFill>
        <p:spPr bwMode="auto">
          <a:xfrm>
            <a:off x="1680002" y="3250347"/>
            <a:ext cx="1905000" cy="139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D15A85-71A6-D5F7-DA6A-8212FC246269}"/>
              </a:ext>
            </a:extLst>
          </p:cNvPr>
          <p:cNvSpPr txBox="1"/>
          <p:nvPr/>
        </p:nvSpPr>
        <p:spPr>
          <a:xfrm>
            <a:off x="375798" y="1838699"/>
            <a:ext cx="8481659" cy="159492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0000" tIns="46800" rIns="90000" bIns="46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Font typeface=""/>
              <a:buNone/>
            </a:pPr>
            <a:r>
              <a:rPr lang="en-US" sz="1400">
                <a:latin typeface="Calibri" panose="020F0502020204030204" pitchFamily="34" charset="0"/>
                <a:cs typeface="Calibri Light" panose="020F0302020204030204" pitchFamily="34" charset="0"/>
              </a:rPr>
              <a:t>Imagine you have a team of 10 employees, and most of them earn between ₹50,000 and ₹60,000 per month.</a:t>
            </a:r>
            <a:br>
              <a:rPr lang="en-US" sz="1400">
                <a:latin typeface="Calibri" panose="020F0502020204030204" pitchFamily="34" charset="0"/>
                <a:cs typeface="Calibri Light" panose="020F0302020204030204" pitchFamily="34" charset="0"/>
              </a:rPr>
            </a:br>
            <a:r>
              <a:rPr lang="en-US" sz="1400">
                <a:latin typeface="Calibri" panose="020F0502020204030204" pitchFamily="34" charset="0"/>
                <a:cs typeface="Calibri Light" panose="020F0302020204030204" pitchFamily="34" charset="0"/>
              </a:rPr>
              <a:t>But one person earns ₹5,00,000 — that salary is much higher than the rest.</a:t>
            </a:r>
          </a:p>
          <a:p>
            <a:pPr lvl="1">
              <a:buFont typeface=""/>
              <a:buNone/>
            </a:pPr>
            <a:r>
              <a:rPr lang="en-US" sz="1400">
                <a:latin typeface="Calibri" panose="020F0502020204030204" pitchFamily="34" charset="0"/>
                <a:cs typeface="Calibri Light" panose="020F0302020204030204" pitchFamily="34" charset="0"/>
              </a:rPr>
              <a:t>That person’s salary is an outlier — it’s a data point that’s very different from the others.</a:t>
            </a:r>
          </a:p>
          <a:p>
            <a:r>
              <a:rPr lang="en-US"/>
              <a:t> </a:t>
            </a:r>
            <a:r>
              <a:rPr lang="en-US" b="1"/>
              <a:t>  </a:t>
            </a:r>
          </a:p>
          <a:p>
            <a:r>
              <a:rPr lang="en-US" sz="1400" b="1"/>
              <a:t>         In simple terms:</a:t>
            </a:r>
            <a:br>
              <a:rPr lang="en-US" sz="1400"/>
            </a:br>
            <a:r>
              <a:rPr lang="en-US" sz="1400"/>
              <a:t>                      “An </a:t>
            </a:r>
            <a:r>
              <a:rPr lang="en-US" sz="1400" i="1"/>
              <a:t>outlier</a:t>
            </a:r>
            <a:r>
              <a:rPr lang="en-US" sz="1400"/>
              <a:t> is something that </a:t>
            </a:r>
            <a:r>
              <a:rPr lang="en-US" sz="1400" b="1"/>
              <a:t>stands out</a:t>
            </a:r>
            <a:r>
              <a:rPr lang="en-US" sz="1400"/>
              <a:t> — it doesn’t fit the normal pattern or trend in the data”</a:t>
            </a:r>
            <a:endParaRPr lang="en-US" sz="1400">
              <a:cs typeface="Calibri"/>
            </a:endParaRPr>
          </a:p>
          <a:p>
            <a:pPr marL="0" indent="0" algn="l">
              <a:spcAft>
                <a:spcPts val="600"/>
              </a:spcAft>
              <a:buSzPct val="75000"/>
              <a:buNone/>
            </a:pPr>
            <a:endParaRPr lang="en-US" sz="1400"/>
          </a:p>
        </p:txBody>
      </p:sp>
      <p:pic>
        <p:nvPicPr>
          <p:cNvPr id="2050" name="Picture 2" descr="handle outliers in our data ...">
            <a:extLst>
              <a:ext uri="{FF2B5EF4-FFF2-40B4-BE49-F238E27FC236}">
                <a16:creationId xmlns:a16="http://schemas.microsoft.com/office/drawing/2014/main" id="{B838E1F7-328C-0CC8-AA5F-9E9DBCEC6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937" y="3302819"/>
            <a:ext cx="1389718" cy="124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B6813B4-0B58-6E9A-8566-0922F30BE01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214884"/>
          </a:xfrm>
        </p:spPr>
        <p:txBody>
          <a:bodyPr/>
          <a:lstStyle/>
          <a:p>
            <a:pPr lvl="0">
              <a:defRPr/>
            </a:pPr>
            <a:r>
              <a:rPr lang="en-US" sz="1000">
                <a:solidFill>
                  <a:srgbClr val="000000">
                    <a:lumMod val="65000"/>
                    <a:lumOff val="35000"/>
                  </a:srgbClr>
                </a:solidFill>
              </a:rPr>
              <a:t>DATA: https://github.com/ravish-analyticx/Philips-Hackathon/tree/main/Outlier%20Detection</a:t>
            </a:r>
            <a:endParaRPr kumimoji="0" lang="en-US" sz="100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3448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7FB7-BAAA-C077-609E-455A7D17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EE69A-A467-1497-47B5-7B3C34C1EF5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63908-529D-4A49-892F-D37C4044DFD8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E2236-D3A3-ADFB-917A-56BF37DF768E}"/>
              </a:ext>
            </a:extLst>
          </p:cNvPr>
          <p:cNvSpPr txBox="1"/>
          <p:nvPr/>
        </p:nvSpPr>
        <p:spPr>
          <a:xfrm>
            <a:off x="5813103" y="1052945"/>
            <a:ext cx="3213133" cy="277217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rtlCol="0" anchor="t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IN" sz="1400" b="1">
                <a:solidFill>
                  <a:srgbClr val="0070C0"/>
                </a:solidFill>
              </a:rPr>
              <a:t>Note</a:t>
            </a:r>
            <a:r>
              <a:rPr lang="en-IN" sz="1400">
                <a:solidFill>
                  <a:srgbClr val="0070C0"/>
                </a:solidFill>
              </a:rPr>
              <a:t>: </a:t>
            </a:r>
            <a:endParaRPr lang="en-IN" sz="1400">
              <a:solidFill>
                <a:srgbClr val="0070C0"/>
              </a:solidFill>
              <a:cs typeface="Calibri"/>
            </a:endParaRPr>
          </a:p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IN" sz="1400" b="1">
                <a:solidFill>
                  <a:srgbClr val="0070C0"/>
                </a:solidFill>
              </a:rPr>
              <a:t>Convert amount into USD format before outlier detection</a:t>
            </a:r>
          </a:p>
          <a:p>
            <a:pPr>
              <a:spcAft>
                <a:spcPts val="600"/>
              </a:spcAft>
              <a:buSzPct val="75000"/>
            </a:pPr>
            <a:r>
              <a:rPr lang="en-US" sz="1400" b="1">
                <a:solidFill>
                  <a:srgbClr val="0070C0"/>
                </a:solidFill>
              </a:rPr>
              <a:t>The dataset you get will not include any label showing whether a record is an outlier or not.</a:t>
            </a:r>
          </a:p>
          <a:p>
            <a:pPr>
              <a:spcAft>
                <a:spcPts val="600"/>
              </a:spcAft>
              <a:buSzPct val="75000"/>
            </a:pPr>
            <a:r>
              <a:rPr lang="en-US" sz="1400" b="1">
                <a:solidFill>
                  <a:srgbClr val="0070C0"/>
                </a:solidFill>
              </a:rPr>
              <a:t>This means you’ll need to analyze the data, find hidden patterns, and build your own logic or model to detect outliers.</a:t>
            </a:r>
          </a:p>
          <a:p>
            <a:pPr marL="0" indent="0" algn="l">
              <a:spcAft>
                <a:spcPts val="600"/>
              </a:spcAft>
              <a:buSzPct val="75000"/>
              <a:buNone/>
            </a:pPr>
            <a:endParaRPr lang="en-IN" sz="1400" b="1">
              <a:solidFill>
                <a:srgbClr val="0070C0"/>
              </a:solidFill>
              <a:cs typeface="Calibri"/>
            </a:endParaRPr>
          </a:p>
        </p:txBody>
      </p:sp>
      <p:pic>
        <p:nvPicPr>
          <p:cNvPr id="8" name="Graphic 7" descr="Comment Important with solid fill">
            <a:extLst>
              <a:ext uri="{FF2B5EF4-FFF2-40B4-BE49-F238E27FC236}">
                <a16:creationId xmlns:a16="http://schemas.microsoft.com/office/drawing/2014/main" id="{7B7689E9-554C-687B-2AC5-6207032EC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2600" y="1091916"/>
            <a:ext cx="374961" cy="383594"/>
          </a:xfrm>
          <a:prstGeom prst="rect">
            <a:avLst/>
          </a:prstGeom>
        </p:spPr>
      </p:pic>
      <p:sp>
        <p:nvSpPr>
          <p:cNvPr id="11" name="Title 5">
            <a:extLst>
              <a:ext uri="{FF2B5EF4-FFF2-40B4-BE49-F238E27FC236}">
                <a16:creationId xmlns:a16="http://schemas.microsoft.com/office/drawing/2014/main" id="{58D1E70C-281E-84C9-D364-ED6FF7745812}"/>
              </a:ext>
            </a:extLst>
          </p:cNvPr>
          <p:cNvSpPr txBox="1">
            <a:spLocks/>
          </p:cNvSpPr>
          <p:nvPr/>
        </p:nvSpPr>
        <p:spPr>
          <a:xfrm>
            <a:off x="502919" y="315637"/>
            <a:ext cx="8062962" cy="18494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>
                <a:solidFill>
                  <a:schemeClr val="tx1"/>
                </a:solidFill>
                <a:latin typeface="+mn-lt"/>
                <a:ea typeface="+mn-ea"/>
                <a:cs typeface="Calibri"/>
              </a:rPr>
              <a:t>Available sheets: </a:t>
            </a:r>
          </a:p>
          <a:p>
            <a:pPr marL="342900" indent="-342900">
              <a:buAutoNum type="arabicPeriod"/>
            </a:pPr>
            <a:r>
              <a:rPr lang="en-US" sz="1400">
                <a:solidFill>
                  <a:schemeClr val="tx1"/>
                </a:solidFill>
                <a:latin typeface="+mn-lt"/>
                <a:ea typeface="+mn-ea"/>
                <a:cs typeface="Calibri"/>
              </a:rPr>
              <a:t>Postings – Transaction level data</a:t>
            </a:r>
          </a:p>
          <a:p>
            <a:pPr marL="342900" indent="-342900">
              <a:buAutoNum type="arabicPeriod"/>
            </a:pPr>
            <a:r>
              <a:rPr lang="en-US" sz="1400" err="1">
                <a:solidFill>
                  <a:schemeClr val="tx1"/>
                </a:solidFill>
                <a:latin typeface="+mn-lt"/>
                <a:ea typeface="+mn-ea"/>
                <a:cs typeface="Calibri"/>
              </a:rPr>
              <a:t>Currency_rates</a:t>
            </a:r>
            <a:r>
              <a:rPr lang="en-US" sz="1400">
                <a:solidFill>
                  <a:schemeClr val="tx1"/>
                </a:solidFill>
                <a:latin typeface="+mn-lt"/>
                <a:ea typeface="+mn-ea"/>
                <a:cs typeface="Calibri"/>
              </a:rPr>
              <a:t> – currency conversion rate</a:t>
            </a:r>
          </a:p>
          <a:p>
            <a:pPr marL="342900" indent="-342900">
              <a:buAutoNum type="arabicPeriod"/>
            </a:pPr>
            <a:r>
              <a:rPr lang="en-US" sz="1400">
                <a:solidFill>
                  <a:schemeClr val="tx1"/>
                </a:solidFill>
                <a:latin typeface="+mn-lt"/>
                <a:ea typeface="+mn-ea"/>
                <a:cs typeface="Calibri"/>
              </a:rPr>
              <a:t>Dataset description  - description about different columns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482FBCE-4F57-B2D0-A848-028FAECE67DA}"/>
              </a:ext>
            </a:extLst>
          </p:cNvPr>
          <p:cNvGraphicFramePr>
            <a:graphicFrameLocks noGrp="1"/>
          </p:cNvGraphicFramePr>
          <p:nvPr/>
        </p:nvGraphicFramePr>
        <p:xfrm>
          <a:off x="297180" y="1699260"/>
          <a:ext cx="5212080" cy="31181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2640">
                  <a:extLst>
                    <a:ext uri="{9D8B030D-6E8A-4147-A177-3AD203B41FA5}">
                      <a16:colId xmlns:a16="http://schemas.microsoft.com/office/drawing/2014/main" val="1598184560"/>
                    </a:ext>
                  </a:extLst>
                </a:gridCol>
                <a:gridCol w="4299440">
                  <a:extLst>
                    <a:ext uri="{9D8B030D-6E8A-4147-A177-3AD203B41FA5}">
                      <a16:colId xmlns:a16="http://schemas.microsoft.com/office/drawing/2014/main" val="4087597664"/>
                    </a:ext>
                  </a:extLst>
                </a:gridCol>
              </a:tblGrid>
              <a:tr h="22941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IN" sz="900" b="1">
                          <a:effectLst/>
                          <a:latin typeface="Calibri" panose="020F0502020204030204" pitchFamily="34" charset="0"/>
                        </a:rPr>
                        <a:t>Column Name</a:t>
                      </a:r>
                      <a:endParaRPr lang="en-IN" sz="900" b="1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IN" sz="900" b="1"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IN" sz="900" b="1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09455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 err="1">
                          <a:effectLst/>
                          <a:latin typeface="Calibri" panose="020F0502020204030204" pitchFamily="34" charset="0"/>
                        </a:rPr>
                        <a:t>CompanyCode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Tells which company or branch the record belongs to (like US or Philippines).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736508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 err="1">
                          <a:effectLst/>
                          <a:latin typeface="Calibri" panose="020F0502020204030204" pitchFamily="34" charset="0"/>
                        </a:rPr>
                        <a:t>DocumentNumber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A unique number given to each financial record or document.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696516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 err="1">
                          <a:effectLst/>
                          <a:latin typeface="Calibri" panose="020F0502020204030204" pitchFamily="34" charset="0"/>
                        </a:rPr>
                        <a:t>Transaction_ID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A special ID used to track each transaction or event.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006430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 err="1">
                          <a:effectLst/>
                          <a:latin typeface="Calibri" panose="020F0502020204030204" pitchFamily="34" charset="0"/>
                        </a:rPr>
                        <a:t>PostingDate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The date when the transaction was officially recorded.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806261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 err="1">
                          <a:effectLst/>
                          <a:latin typeface="Calibri" panose="020F0502020204030204" pitchFamily="34" charset="0"/>
                        </a:rPr>
                        <a:t>DocumentType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Shows what kind of record it is — for example, an invoice, journal entry, or adjustment.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385763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 err="1">
                          <a:effectLst/>
                          <a:latin typeface="Calibri" panose="020F0502020204030204" pitchFamily="34" charset="0"/>
                        </a:rPr>
                        <a:t>GLAccount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The financial account used for the transaction (like expenses or revenue).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139713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>
                          <a:effectLst/>
                          <a:latin typeface="Calibri" panose="020F0502020204030204" pitchFamily="34" charset="0"/>
                        </a:rPr>
                        <a:t>VendorID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The supplier or partner involved in the transaction.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955866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 err="1">
                          <a:effectLst/>
                          <a:latin typeface="Calibri" panose="020F0502020204030204" pitchFamily="34" charset="0"/>
                        </a:rPr>
                        <a:t>CostCenter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The department or team that spent or received the money.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399730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>
                          <a:effectLst/>
                          <a:latin typeface="Calibri" panose="020F0502020204030204" pitchFamily="34" charset="0"/>
                        </a:rPr>
                        <a:t>Department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The larger business area (like IT, HR, or Operations).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740025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>
                          <a:effectLst/>
                          <a:latin typeface="Calibri" panose="020F0502020204030204" pitchFamily="34" charset="0"/>
                        </a:rPr>
                        <a:t>Amount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The total money involved in the transaction.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32146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>
                          <a:effectLst/>
                          <a:latin typeface="Calibri" panose="020F0502020204030204" pitchFamily="34" charset="0"/>
                        </a:rPr>
                        <a:t>Currency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The currency used (like USD or EUR).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27229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A short note explaining what the transaction is about.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374917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IN" sz="800"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  <a:endParaRPr lang="en-IN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</a:rPr>
                        <a:t>Tells if the transaction is completed, pending, or posted.</a:t>
                      </a:r>
                      <a:endParaRPr lang="en-US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68" marR="9268" marT="9268" anchor="ctr">
                    <a:lnL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078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500294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E03A04-569F-A8E4-1F8D-1F7DDF5BF72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214884"/>
          </a:xfrm>
        </p:spPr>
        <p:txBody>
          <a:bodyPr/>
          <a:lstStyle/>
          <a:p>
            <a:pPr lvl="0">
              <a:defRPr/>
            </a:pPr>
            <a:r>
              <a:rPr lang="en-US" sz="1000">
                <a:solidFill>
                  <a:srgbClr val="000000">
                    <a:lumMod val="65000"/>
                    <a:lumOff val="35000"/>
                  </a:srgbClr>
                </a:solidFill>
              </a:rPr>
              <a:t>DATA: https://github.com/ravish-analyticx/Philips-Hackathon/tree/main/Outlier%20Detection</a:t>
            </a:r>
            <a:endParaRPr kumimoji="0" lang="en-US" sz="100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2661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4A31E-C239-0E65-E822-95BAE28F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B2745-EB23-BBBA-42BA-AC061375A0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63908-529D-4A49-892F-D37C4044DFD8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FD1EC3-6FA0-3DD8-8BFB-60A91007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33" y="392632"/>
            <a:ext cx="8138160" cy="340433"/>
          </a:xfrm>
        </p:spPr>
        <p:txBody>
          <a:bodyPr/>
          <a:lstStyle/>
          <a:p>
            <a:r>
              <a:rPr lang="en-US" sz="1800">
                <a:cs typeface="Calibri Light"/>
              </a:rPr>
              <a:t>Expected Steps to be performed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3A44D-21A5-D85D-98DC-3CF70BD371EF}"/>
              </a:ext>
            </a:extLst>
          </p:cNvPr>
          <p:cNvSpPr txBox="1"/>
          <p:nvPr/>
        </p:nvSpPr>
        <p:spPr>
          <a:xfrm>
            <a:off x="428082" y="750201"/>
            <a:ext cx="8045327" cy="1353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/>
              <a:t>Preprocess and clean data</a:t>
            </a:r>
            <a:endParaRPr lang="en-US" sz="1400">
              <a:cs typeface="Calibri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>
                <a:cs typeface="Calibri"/>
              </a:rPr>
              <a:t>Exploratory Data Analysis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/>
              <a:t>Build outlier detection models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>
                <a:cs typeface="Calibri"/>
              </a:rPr>
              <a:t>Present the results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C082529-B822-0592-04F1-F1C105BC1DDD}"/>
              </a:ext>
            </a:extLst>
          </p:cNvPr>
          <p:cNvSpPr txBox="1">
            <a:spLocks/>
          </p:cNvSpPr>
          <p:nvPr/>
        </p:nvSpPr>
        <p:spPr>
          <a:xfrm>
            <a:off x="428082" y="2732652"/>
            <a:ext cx="8138160" cy="1457027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+mn-lt"/>
                <a:ea typeface="Yu Gothic"/>
                <a:cs typeface="Arial" panose="020B0604020202020204" pitchFamily="34" charset="0"/>
              </a:rPr>
              <a:t>Flag whether a particular 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Yu Gothic"/>
                <a:cs typeface="Arial" panose="020B0604020202020204" pitchFamily="34" charset="0"/>
              </a:rPr>
              <a:t>transaction amount </a:t>
            </a:r>
            <a:r>
              <a:rPr lang="en-US">
                <a:solidFill>
                  <a:srgbClr val="000000"/>
                </a:solidFill>
                <a:latin typeface="+mn-lt"/>
                <a:ea typeface="Yu Gothic"/>
                <a:cs typeface="Arial" panose="020B0604020202020204" pitchFamily="34" charset="0"/>
              </a:rPr>
              <a:t>(USD) is anomaly or not per </a:t>
            </a:r>
            <a:r>
              <a:rPr lang="en-US" b="1" err="1">
                <a:latin typeface="+mn-lt"/>
                <a:ea typeface="Yu Gothic"/>
                <a:cs typeface="Arial" panose="020B0604020202020204" pitchFamily="34" charset="0"/>
              </a:rPr>
              <a:t>CompanyCode</a:t>
            </a:r>
            <a:r>
              <a:rPr lang="en-US" b="1">
                <a:latin typeface="+mn-lt"/>
                <a:ea typeface="Yu Gothic"/>
                <a:cs typeface="Arial" panose="020B0604020202020204" pitchFamily="34" charset="0"/>
              </a:rPr>
              <a:t> + </a:t>
            </a:r>
            <a:r>
              <a:rPr lang="en-US" b="1" err="1">
                <a:latin typeface="+mn-lt"/>
                <a:ea typeface="Yu Gothic"/>
                <a:cs typeface="Arial" panose="020B0604020202020204" pitchFamily="34" charset="0"/>
              </a:rPr>
              <a:t>DocumentType</a:t>
            </a:r>
            <a:r>
              <a:rPr lang="en-US" b="1">
                <a:latin typeface="+mn-lt"/>
                <a:ea typeface="Yu Gothic"/>
                <a:cs typeface="Arial" panose="020B0604020202020204" pitchFamily="34" charset="0"/>
              </a:rPr>
              <a:t> + Department + </a:t>
            </a:r>
            <a:r>
              <a:rPr lang="en-US" b="1" err="1">
                <a:latin typeface="+mn-lt"/>
                <a:ea typeface="Yu Gothic"/>
                <a:cs typeface="Arial" panose="020B0604020202020204" pitchFamily="34" charset="0"/>
              </a:rPr>
              <a:t>GLAccount</a:t>
            </a:r>
            <a:endParaRPr lang="en-US" b="1">
              <a:latin typeface="+mn-lt"/>
              <a:ea typeface="Yu Gothic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>
                <a:latin typeface="+mn-lt"/>
                <a:ea typeface="Yu Gothic"/>
                <a:cs typeface="Arial" panose="020B0604020202020204" pitchFamily="34" charset="0"/>
              </a:rPr>
              <a:t>Explain the reasonings for the outliers from the Model</a:t>
            </a:r>
          </a:p>
          <a:p>
            <a:pPr>
              <a:defRPr/>
            </a:pPr>
            <a:r>
              <a:rPr lang="en-US">
                <a:latin typeface="+mn-lt"/>
                <a:ea typeface="Yu Gothic"/>
                <a:cs typeface="Arial" panose="020B0604020202020204" pitchFamily="34" charset="0"/>
              </a:rPr>
              <a:t>Your score will be based on how accurately your model detects the real outliers — the closer your results are to the true labels, the higher your accuracy</a:t>
            </a:r>
          </a:p>
          <a:p>
            <a:pPr marL="0" indent="0">
              <a:buNone/>
              <a:defRPr/>
            </a:pPr>
            <a:endParaRPr lang="en-US" sz="1100" b="1">
              <a:latin typeface="Consolas"/>
              <a:ea typeface="Yu Gothic"/>
              <a:cs typeface="Calibri Light"/>
            </a:endParaRPr>
          </a:p>
          <a:p>
            <a:pPr marL="0" indent="0">
              <a:buNone/>
              <a:defRPr/>
            </a:pPr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558D3D10-F0A0-74C6-7258-81FC1540C7F8}"/>
              </a:ext>
            </a:extLst>
          </p:cNvPr>
          <p:cNvSpPr txBox="1">
            <a:spLocks/>
          </p:cNvSpPr>
          <p:nvPr/>
        </p:nvSpPr>
        <p:spPr>
          <a:xfrm>
            <a:off x="381665" y="2378897"/>
            <a:ext cx="8138160" cy="3404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cs typeface="Calibri Light"/>
              </a:rPr>
              <a:t>Expected Outcome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4D8E2DC-90D7-FB95-FB23-EA8D8F1D7214}"/>
              </a:ext>
            </a:extLst>
          </p:cNvPr>
          <p:cNvSpPr txBox="1">
            <a:spLocks/>
          </p:cNvSpPr>
          <p:nvPr/>
        </p:nvSpPr>
        <p:spPr>
          <a:xfrm>
            <a:off x="428082" y="2719330"/>
            <a:ext cx="8138160" cy="602308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183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endParaRPr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  <a:p>
            <a:pPr marL="0" indent="0">
              <a:buNone/>
              <a:defRPr/>
            </a:pPr>
            <a:endParaRPr lang="en-US" sz="1100" b="1">
              <a:latin typeface="Consolas"/>
              <a:ea typeface="Yu Gothic"/>
              <a:cs typeface="Calibri Light"/>
            </a:endParaRPr>
          </a:p>
          <a:p>
            <a:pPr marL="0" indent="0">
              <a:buNone/>
              <a:defRPr/>
            </a:pPr>
            <a:endParaRPr lang="en-US" sz="1100" b="1">
              <a:latin typeface="Consolas"/>
              <a:ea typeface="Yu Gothic"/>
              <a:cs typeface="Calibri Light"/>
            </a:endParaRPr>
          </a:p>
          <a:p>
            <a:pPr marL="0" indent="0">
              <a:buNone/>
              <a:defRPr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46A1D2-7E34-0188-4CCF-7CF22D75FBC5}"/>
              </a:ext>
            </a:extLst>
          </p:cNvPr>
          <p:cNvGrpSpPr/>
          <p:nvPr/>
        </p:nvGrpSpPr>
        <p:grpSpPr>
          <a:xfrm>
            <a:off x="381665" y="4365162"/>
            <a:ext cx="8091743" cy="377852"/>
            <a:chOff x="381665" y="4365162"/>
            <a:chExt cx="8091743" cy="37785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C7B5EF-EA34-285B-2D1A-538E7F0C3EA7}"/>
                </a:ext>
              </a:extLst>
            </p:cNvPr>
            <p:cNvSpPr txBox="1"/>
            <p:nvPr/>
          </p:nvSpPr>
          <p:spPr>
            <a:xfrm>
              <a:off x="381665" y="4393299"/>
              <a:ext cx="80917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400"/>
                <a:t>Spark your storytelling skills to explain why you think the identified transactions are outliers</a:t>
              </a:r>
            </a:p>
          </p:txBody>
        </p:sp>
        <p:pic>
          <p:nvPicPr>
            <p:cNvPr id="15" name="Graphic 14" descr="Stars with solid fill">
              <a:extLst>
                <a:ext uri="{FF2B5EF4-FFF2-40B4-BE49-F238E27FC236}">
                  <a16:creationId xmlns:a16="http://schemas.microsoft.com/office/drawing/2014/main" id="{A33CAFE9-DD95-D5EA-49EF-A06D37B85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5432" y="4365162"/>
              <a:ext cx="377852" cy="377852"/>
            </a:xfrm>
            <a:prstGeom prst="rect">
              <a:avLst/>
            </a:prstGeom>
          </p:spPr>
        </p:pic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7625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3FA0-7E03-995E-90DE-BC549B15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F7B69-A545-B464-5702-763BFD2409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defTabSz="685783">
              <a:defRPr/>
            </a:pPr>
            <a:r>
              <a:rPr lang="en-US" sz="1000">
                <a:solidFill>
                  <a:srgbClr val="000000">
                    <a:lumMod val="65000"/>
                    <a:lumOff val="35000"/>
                  </a:srgbClr>
                </a:solidFill>
              </a:rPr>
              <a:t>DATA: https://github.com/ravish-analyticx/Philips-Hackathon/tree/main/Sales_Forecasting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A2382-D1C1-2E57-09B8-BB4CEA77D19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defTabSz="685783">
              <a:defRPr/>
            </a:pPr>
            <a:fld id="{A5163908-529D-4A49-892F-D37C4044DFD8}" type="slidenum">
              <a:rPr lang="en-US">
                <a:solidFill>
                  <a:srgbClr val="FFFFFF">
                    <a:lumMod val="65000"/>
                  </a:srgbClr>
                </a:solidFill>
                <a:ea typeface="Yu Gothic"/>
              </a:rPr>
              <a:pPr defTabSz="685783">
                <a:defRPr/>
              </a:pPr>
              <a:t>8</a:t>
            </a:fld>
            <a:endParaRPr lang="en-US">
              <a:solidFill>
                <a:srgbClr val="FFFFFF">
                  <a:lumMod val="65000"/>
                </a:srgbClr>
              </a:solidFill>
              <a:ea typeface="Yu Gothic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88BADD-FE3B-A3E1-C14A-07A41BA09A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6556" y="881958"/>
            <a:ext cx="8138160" cy="569912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OBJECTIVE:</a:t>
            </a:r>
            <a:br>
              <a:rPr lang="en-US" b="1"/>
            </a:br>
            <a:r>
              <a:rPr lang="en-US"/>
              <a:t>To</a:t>
            </a:r>
            <a:r>
              <a:rPr lang="en-US" b="1"/>
              <a:t> </a:t>
            </a:r>
            <a:r>
              <a:rPr lang="en-US"/>
              <a:t>forecast future </a:t>
            </a:r>
            <a:r>
              <a:rPr lang="en-US" b="1"/>
              <a:t>Sales Performance (total revenue)</a:t>
            </a:r>
            <a:r>
              <a:rPr lang="en-US"/>
              <a:t> using historical transactional data (units sold, demand per product/region).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B489F3-8271-BF84-BC2C-70213AC4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53" y="376241"/>
            <a:ext cx="8138160" cy="324799"/>
          </a:xfrm>
        </p:spPr>
        <p:txBody>
          <a:bodyPr/>
          <a:lstStyle/>
          <a:p>
            <a:r>
              <a:rPr lang="en-US" b="1"/>
              <a:t>Sales Forecasting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0EA4EDD-0036-31EA-1C33-FB6403824E3C}"/>
              </a:ext>
            </a:extLst>
          </p:cNvPr>
          <p:cNvSpPr txBox="1">
            <a:spLocks/>
          </p:cNvSpPr>
          <p:nvPr/>
        </p:nvSpPr>
        <p:spPr>
          <a:xfrm>
            <a:off x="566556" y="1724065"/>
            <a:ext cx="8138160" cy="1680652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defTabSz="183596">
              <a:buNone/>
              <a:defRPr/>
            </a:pPr>
            <a:r>
              <a:rPr lang="en-US" b="1">
                <a:solidFill>
                  <a:srgbClr val="000000"/>
                </a:solidFill>
                <a:ea typeface="Yu Gothic"/>
              </a:rPr>
              <a:t>DATASET CONTEXT:</a:t>
            </a:r>
          </a:p>
          <a:p>
            <a:pPr marL="0" indent="0" defTabSz="183596">
              <a:buNone/>
              <a:defRPr/>
            </a:pPr>
            <a:r>
              <a:rPr lang="en-US">
                <a:solidFill>
                  <a:srgbClr val="000000"/>
                </a:solidFill>
                <a:ea typeface="Yu Gothic"/>
              </a:rPr>
              <a:t>This use case is relevant to </a:t>
            </a:r>
            <a:r>
              <a:rPr lang="en-US" b="1">
                <a:solidFill>
                  <a:srgbClr val="000000"/>
                </a:solidFill>
                <a:ea typeface="Yu Gothic"/>
              </a:rPr>
              <a:t>Financial Planning &amp; Analysis (FP&amp;A)</a:t>
            </a:r>
            <a:r>
              <a:rPr lang="en-US">
                <a:solidFill>
                  <a:srgbClr val="000000"/>
                </a:solidFill>
                <a:ea typeface="Yu Gothic"/>
              </a:rPr>
              <a:t> and </a:t>
            </a:r>
            <a:r>
              <a:rPr lang="en-US" b="1">
                <a:solidFill>
                  <a:srgbClr val="000000"/>
                </a:solidFill>
                <a:ea typeface="Yu Gothic"/>
              </a:rPr>
              <a:t>Demand Forecasting teams.</a:t>
            </a:r>
            <a:br>
              <a:rPr lang="en-US">
                <a:solidFill>
                  <a:srgbClr val="000000"/>
                </a:solidFill>
                <a:ea typeface="Yu Gothic"/>
              </a:rPr>
            </a:br>
            <a:r>
              <a:rPr lang="en-US">
                <a:solidFill>
                  <a:srgbClr val="000000"/>
                </a:solidFill>
                <a:ea typeface="Yu Gothic"/>
              </a:rPr>
              <a:t>Sales data across multiple products, geographies, and channels help answer key questions such as:</a:t>
            </a:r>
          </a:p>
          <a:p>
            <a:pPr marL="295193" lvl="1" indent="-147596" defTabSz="183596">
              <a:defRPr/>
            </a:pPr>
            <a:r>
              <a:rPr lang="en-US">
                <a:solidFill>
                  <a:srgbClr val="000000"/>
                </a:solidFill>
                <a:ea typeface="Yu Gothic"/>
              </a:rPr>
              <a:t>What will next quarter’s sales look like for each region and product line?</a:t>
            </a:r>
          </a:p>
          <a:p>
            <a:pPr marL="295193" lvl="1" indent="-147596" defTabSz="183596">
              <a:defRPr/>
            </a:pPr>
            <a:r>
              <a:rPr lang="en-US">
                <a:solidFill>
                  <a:srgbClr val="000000"/>
                </a:solidFill>
                <a:ea typeface="Yu Gothic"/>
              </a:rPr>
              <a:t>How does seasonality (month, year) affect sales?</a:t>
            </a:r>
          </a:p>
          <a:p>
            <a:pPr marL="295193" lvl="1" indent="-147596" defTabSz="183596">
              <a:defRPr/>
            </a:pPr>
            <a:r>
              <a:rPr lang="en-US">
                <a:solidFill>
                  <a:srgbClr val="000000"/>
                </a:solidFill>
                <a:ea typeface="Yu Gothic"/>
              </a:rPr>
              <a:t>Which channels contribute the most revenue?</a:t>
            </a:r>
          </a:p>
          <a:p>
            <a:pPr marL="295193" lvl="1" indent="-147596" defTabSz="183596">
              <a:defRPr/>
            </a:pPr>
            <a:r>
              <a:rPr lang="en-US">
                <a:solidFill>
                  <a:srgbClr val="000000"/>
                </a:solidFill>
              </a:rPr>
              <a:t>Is there any variance at plant level? </a:t>
            </a:r>
          </a:p>
          <a:p>
            <a:pPr marL="147597" lvl="1" indent="0" defTabSz="183596">
              <a:buNone/>
              <a:defRPr/>
            </a:pPr>
            <a:r>
              <a:rPr lang="en-US">
                <a:solidFill>
                  <a:srgbClr val="000000"/>
                </a:solidFill>
              </a:rPr>
              <a:t>Etc.</a:t>
            </a:r>
          </a:p>
          <a:p>
            <a:pPr marL="295193" lvl="1" indent="-147596" defTabSz="183596">
              <a:defRPr/>
            </a:pPr>
            <a:endParaRPr lang="en-US">
              <a:solidFill>
                <a:srgbClr val="000000"/>
              </a:solidFill>
              <a:ea typeface="Yu Gothic"/>
            </a:endParaRPr>
          </a:p>
          <a:p>
            <a:pPr marL="0" indent="0" defTabSz="183596">
              <a:buNone/>
              <a:defRPr/>
            </a:pPr>
            <a:endParaRPr lang="en-US">
              <a:solidFill>
                <a:srgbClr val="000000"/>
              </a:solidFill>
              <a:ea typeface="Yu Gothic"/>
            </a:endParaRPr>
          </a:p>
          <a:p>
            <a:pPr marL="0" indent="0" defTabSz="183596">
              <a:buNone/>
              <a:defRPr/>
            </a:pPr>
            <a:endParaRPr lang="en-US">
              <a:solidFill>
                <a:srgbClr val="000000"/>
              </a:solidFill>
              <a:ea typeface="Yu Gothic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FAFE4B9-5767-8DEF-8D92-BB406C80DCC5}"/>
              </a:ext>
            </a:extLst>
          </p:cNvPr>
          <p:cNvSpPr txBox="1">
            <a:spLocks/>
          </p:cNvSpPr>
          <p:nvPr/>
        </p:nvSpPr>
        <p:spPr>
          <a:xfrm>
            <a:off x="566556" y="4025198"/>
            <a:ext cx="4737711" cy="1350989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defTabSz="183596">
              <a:buNone/>
              <a:defRPr/>
            </a:pPr>
            <a:r>
              <a:rPr lang="en-US" b="1">
                <a:solidFill>
                  <a:srgbClr val="000000"/>
                </a:solidFill>
                <a:ea typeface="Yu Gothic"/>
              </a:rPr>
              <a:t>EXPECTED OUTCOME:</a:t>
            </a:r>
          </a:p>
          <a:p>
            <a:pPr marL="146300" indent="-146300" defTabSz="183596">
              <a:defRPr/>
            </a:pPr>
            <a:r>
              <a:rPr lang="en-US" b="1">
                <a:solidFill>
                  <a:srgbClr val="000000"/>
                </a:solidFill>
                <a:ea typeface="Yu Gothic"/>
              </a:rPr>
              <a:t>12-month rolling forecast</a:t>
            </a:r>
            <a:r>
              <a:rPr lang="en-US">
                <a:solidFill>
                  <a:srgbClr val="000000"/>
                </a:solidFill>
                <a:ea typeface="Yu Gothic"/>
              </a:rPr>
              <a:t> of revenue</a:t>
            </a:r>
          </a:p>
        </p:txBody>
      </p:sp>
      <p:pic>
        <p:nvPicPr>
          <p:cNvPr id="2050" name="Picture 2" descr="Time Series Forecasting Using Python">
            <a:extLst>
              <a:ext uri="{FF2B5EF4-FFF2-40B4-BE49-F238E27FC236}">
                <a16:creationId xmlns:a16="http://schemas.microsoft.com/office/drawing/2014/main" id="{7ED3CDBF-E347-82A5-25C3-6D54726E85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0" t="8206" r="7396" b="13281"/>
          <a:stretch>
            <a:fillRect/>
          </a:stretch>
        </p:blipFill>
        <p:spPr bwMode="auto">
          <a:xfrm>
            <a:off x="5173639" y="2730452"/>
            <a:ext cx="3464086" cy="20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88914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986E1-E39A-4A28-BA5A-9EF3CF36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CC46D-4FED-601D-2413-90CCFB59599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63908-529D-4A49-892F-D37C4044DFD8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CC87EB-A4E4-F1AD-B6D8-DB38AA0CA5E2}"/>
              </a:ext>
            </a:extLst>
          </p:cNvPr>
          <p:cNvGrpSpPr/>
          <p:nvPr/>
        </p:nvGrpSpPr>
        <p:grpSpPr>
          <a:xfrm>
            <a:off x="5741206" y="1728191"/>
            <a:ext cx="3495073" cy="822519"/>
            <a:chOff x="5655621" y="3343523"/>
            <a:chExt cx="3495073" cy="82251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585C60-D9F5-A32A-98A3-CBE065C7B610}"/>
                </a:ext>
              </a:extLst>
            </p:cNvPr>
            <p:cNvSpPr txBox="1"/>
            <p:nvPr/>
          </p:nvSpPr>
          <p:spPr>
            <a:xfrm>
              <a:off x="5937561" y="3348253"/>
              <a:ext cx="3213133" cy="8177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rtlCol="0" anchor="t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IN" sz="1400" b="1">
                  <a:solidFill>
                    <a:srgbClr val="0070C0"/>
                  </a:solidFill>
                </a:rPr>
                <a:t>Note</a:t>
              </a:r>
              <a:r>
                <a:rPr lang="en-IN" sz="1400">
                  <a:solidFill>
                    <a:srgbClr val="0070C0"/>
                  </a:solidFill>
                </a:rPr>
                <a:t>: </a:t>
              </a:r>
              <a:endParaRPr lang="en-IN" sz="1400">
                <a:solidFill>
                  <a:srgbClr val="0070C0"/>
                </a:solidFill>
                <a:cs typeface="Calibri"/>
              </a:endParaRPr>
            </a:p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IN" sz="1400" b="1">
                  <a:solidFill>
                    <a:srgbClr val="0070C0"/>
                  </a:solidFill>
                </a:rPr>
                <a:t>Convert amount into USD format before building Sales Forecasting Model</a:t>
              </a:r>
            </a:p>
          </p:txBody>
        </p:sp>
        <p:pic>
          <p:nvPicPr>
            <p:cNvPr id="8" name="Graphic 7" descr="Comment Important with solid fill">
              <a:extLst>
                <a:ext uri="{FF2B5EF4-FFF2-40B4-BE49-F238E27FC236}">
                  <a16:creationId xmlns:a16="http://schemas.microsoft.com/office/drawing/2014/main" id="{DDF9F05D-7729-2620-950D-DF29C9F0D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5621" y="3343523"/>
              <a:ext cx="374961" cy="383594"/>
            </a:xfrm>
            <a:prstGeom prst="rect">
              <a:avLst/>
            </a:prstGeom>
          </p:spPr>
        </p:pic>
      </p:grpSp>
      <p:sp>
        <p:nvSpPr>
          <p:cNvPr id="11" name="Title 5">
            <a:extLst>
              <a:ext uri="{FF2B5EF4-FFF2-40B4-BE49-F238E27FC236}">
                <a16:creationId xmlns:a16="http://schemas.microsoft.com/office/drawing/2014/main" id="{87703830-9431-2984-9B79-D9648B325536}"/>
              </a:ext>
            </a:extLst>
          </p:cNvPr>
          <p:cNvSpPr txBox="1">
            <a:spLocks/>
          </p:cNvSpPr>
          <p:nvPr/>
        </p:nvSpPr>
        <p:spPr>
          <a:xfrm>
            <a:off x="294920" y="601596"/>
            <a:ext cx="8062962" cy="81779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400" b="1">
              <a:solidFill>
                <a:schemeClr val="tx1"/>
              </a:solidFill>
              <a:ea typeface="+mj-lt"/>
              <a:cs typeface="+mj-lt"/>
            </a:endParaRPr>
          </a:p>
          <a:p>
            <a:pPr marL="342900" indent="-342900">
              <a:buAutoNum type="arabicPeriod"/>
            </a:pPr>
            <a:r>
              <a:rPr lang="en-US" sz="1400" i="1" err="1">
                <a:solidFill>
                  <a:srgbClr val="000000"/>
                </a:solidFill>
                <a:latin typeface="Calibri"/>
              </a:rPr>
              <a:t>SalesData</a:t>
            </a:r>
            <a:r>
              <a:rPr lang="en-US" sz="1400">
                <a:solidFill>
                  <a:srgbClr val="000000"/>
                </a:solidFill>
                <a:latin typeface="Calibri"/>
              </a:rPr>
              <a:t> – Contains the key information to Forecast Sales</a:t>
            </a:r>
          </a:p>
          <a:p>
            <a:pPr marL="342900" indent="-342900">
              <a:buAutoNum type="arabicPeriod"/>
            </a:pPr>
            <a:r>
              <a:rPr lang="en-US" sz="1400" i="1" err="1">
                <a:solidFill>
                  <a:srgbClr val="000000"/>
                </a:solidFill>
                <a:latin typeface="Calibri"/>
              </a:rPr>
              <a:t>Currency_rates</a:t>
            </a:r>
            <a:r>
              <a:rPr lang="en-US" sz="1400">
                <a:solidFill>
                  <a:srgbClr val="000000"/>
                </a:solidFill>
                <a:latin typeface="Calibri"/>
              </a:rPr>
              <a:t> – Contains the Currency conversion values – Base is </a:t>
            </a:r>
            <a:r>
              <a:rPr lang="en-US" sz="1400" b="1">
                <a:solidFill>
                  <a:srgbClr val="000000"/>
                </a:solidFill>
                <a:latin typeface="Calibri"/>
              </a:rPr>
              <a:t>USD</a:t>
            </a:r>
            <a:endParaRPr lang="en-US" sz="140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107FCBFE-B067-083B-B85F-74C1C2A3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733853"/>
            <a:ext cx="8138160" cy="340433"/>
          </a:xfrm>
        </p:spPr>
        <p:txBody>
          <a:bodyPr/>
          <a:lstStyle/>
          <a:p>
            <a:r>
              <a:rPr lang="en-US" sz="1800">
                <a:cs typeface="Calibri Light"/>
              </a:rPr>
              <a:t>Expected Steps to be performed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4E5EB-4254-2825-E8F9-30A30AA4CDF0}"/>
              </a:ext>
            </a:extLst>
          </p:cNvPr>
          <p:cNvSpPr txBox="1"/>
          <p:nvPr/>
        </p:nvSpPr>
        <p:spPr>
          <a:xfrm>
            <a:off x="182123" y="1919988"/>
            <a:ext cx="8045327" cy="167693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/>
              <a:t>Data Assessment, Preprocessing and Data cleaning</a:t>
            </a:r>
            <a:endParaRPr lang="en-US" sz="1400">
              <a:cs typeface="Calibri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>
                <a:cs typeface="Calibri"/>
              </a:rPr>
              <a:t>Exploratory Data Analysis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/>
              <a:t>Feature Engineering, Transformation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/>
              <a:t>Modelling and Explainability of Sales Forecast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400">
                <a:cs typeface="Calibri"/>
              </a:rPr>
              <a:t>Presenting the results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8240E324-79F8-3A0F-3B69-4C15538C50B9}"/>
              </a:ext>
            </a:extLst>
          </p:cNvPr>
          <p:cNvSpPr txBox="1">
            <a:spLocks/>
          </p:cNvSpPr>
          <p:nvPr/>
        </p:nvSpPr>
        <p:spPr>
          <a:xfrm>
            <a:off x="257321" y="504693"/>
            <a:ext cx="8138160" cy="3404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cs typeface="Calibri Light"/>
              </a:rPr>
              <a:t>Dataset Sheet Information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621A0B6-520A-C4FB-1A05-44C56E60E9A0}"/>
              </a:ext>
            </a:extLst>
          </p:cNvPr>
          <p:cNvGrpSpPr/>
          <p:nvPr/>
        </p:nvGrpSpPr>
        <p:grpSpPr>
          <a:xfrm>
            <a:off x="5281355" y="3030015"/>
            <a:ext cx="3342726" cy="1704382"/>
            <a:chOff x="5100752" y="1470384"/>
            <a:chExt cx="3342726" cy="17043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0E68D2-6C54-D847-8627-A2BA88AAA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00752" y="1470384"/>
              <a:ext cx="2902099" cy="76838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4DA1754-B772-465D-0856-97A06A2667AC}"/>
                </a:ext>
              </a:extLst>
            </p:cNvPr>
            <p:cNvSpPr txBox="1"/>
            <p:nvPr/>
          </p:nvSpPr>
          <p:spPr>
            <a:xfrm>
              <a:off x="5833086" y="2135826"/>
              <a:ext cx="2610392" cy="1038940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28600" indent="-228600">
                <a:lnSpc>
                  <a:spcPct val="150000"/>
                </a:lnSpc>
                <a:buFont typeface=""/>
                <a:buChar char="•"/>
              </a:pPr>
              <a:r>
                <a:rPr lang="en-US" sz="1050">
                  <a:cs typeface="Calibri"/>
                </a:rPr>
                <a:t>A: Actual</a:t>
              </a:r>
            </a:p>
            <a:p>
              <a:pPr marL="228600" indent="-228600">
                <a:lnSpc>
                  <a:spcPct val="150000"/>
                </a:lnSpc>
                <a:buFont typeface=""/>
                <a:buChar char="•"/>
              </a:pPr>
              <a:r>
                <a:rPr lang="en-US" sz="1050">
                  <a:cs typeface="Calibri"/>
                </a:rPr>
                <a:t>F: Forecast</a:t>
              </a:r>
            </a:p>
            <a:p>
              <a:pPr marL="228600" indent="-228600">
                <a:lnSpc>
                  <a:spcPct val="150000"/>
                </a:lnSpc>
                <a:buFont typeface=""/>
                <a:buChar char="•"/>
              </a:pPr>
              <a:r>
                <a:rPr lang="en-US" sz="1050">
                  <a:cs typeface="Calibri"/>
                </a:rPr>
                <a:t>n: No. of Observation</a:t>
              </a:r>
            </a:p>
            <a:p>
              <a:pPr marL="228600" indent="-228600">
                <a:lnSpc>
                  <a:spcPct val="150000"/>
                </a:lnSpc>
                <a:buFont typeface=""/>
                <a:buChar char="•"/>
              </a:pPr>
              <a:r>
                <a:rPr lang="en-US" sz="1050">
                  <a:cs typeface="Calibri"/>
                </a:rPr>
                <a:t> i: Index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E948E7F-39E1-E09C-71B2-A4CF130D05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321" y="3895635"/>
            <a:ext cx="5101813" cy="382074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093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520C-FC3D-4533-B3A2-E61CEE09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DB22B-1DB6-16A8-5DED-70A4AAD17A8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63908-529D-4A49-892F-D37C4044DFD8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Yu Gothic"/>
                <a:cs typeface="Calibri Light" panose="020F0302020204030204" pitchFamily="34" charset="0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B3EAAA-26B2-931E-E528-AD200D7D69F0}"/>
              </a:ext>
            </a:extLst>
          </p:cNvPr>
          <p:cNvSpPr txBox="1">
            <a:spLocks/>
          </p:cNvSpPr>
          <p:nvPr/>
        </p:nvSpPr>
        <p:spPr>
          <a:xfrm>
            <a:off x="382096" y="1359314"/>
            <a:ext cx="8138160" cy="2534506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latin typeface="+mn-lt"/>
                <a:ea typeface="Yu Gothic"/>
                <a:cs typeface="Arial" panose="020B0604020202020204" pitchFamily="34" charset="0"/>
              </a:rPr>
              <a:t>After building a model using input data., a test dataset will be provided that contains the </a:t>
            </a:r>
            <a:r>
              <a:rPr lang="en-US" b="1">
                <a:latin typeface="+mn-lt"/>
                <a:ea typeface="Yu Gothic"/>
                <a:cs typeface="Arial" panose="020B0604020202020204" pitchFamily="34" charset="0"/>
              </a:rPr>
              <a:t>2025</a:t>
            </a:r>
            <a:r>
              <a:rPr lang="en-US">
                <a:latin typeface="+mn-lt"/>
                <a:ea typeface="Yu Gothic"/>
                <a:cs typeface="Arial" panose="020B0604020202020204" pitchFamily="34" charset="0"/>
              </a:rPr>
              <a:t> data, for which you use the pre-trained model to forecast for the amount.</a:t>
            </a:r>
          </a:p>
          <a:p>
            <a:pPr>
              <a:defRPr/>
            </a:pPr>
            <a:r>
              <a:rPr lang="en-US">
                <a:latin typeface="+mn-lt"/>
                <a:ea typeface="Yu Gothic"/>
                <a:cs typeface="Arial" panose="020B0604020202020204" pitchFamily="34" charset="0"/>
              </a:rPr>
              <a:t>The predictions for Total value should be done based on “</a:t>
            </a:r>
            <a:r>
              <a:rPr lang="en-US">
                <a:solidFill>
                  <a:srgbClr val="000000"/>
                </a:solidFill>
              </a:rPr>
              <a:t>Region → Country → Plant Country → Sales Channel → Product”</a:t>
            </a:r>
            <a:endParaRPr lang="en-US">
              <a:latin typeface="+mn-lt"/>
              <a:ea typeface="Yu Gothic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>
                <a:latin typeface="+mn-lt"/>
                <a:ea typeface="Yu Gothic"/>
                <a:cs typeface="Arial" panose="020B0604020202020204" pitchFamily="34" charset="0"/>
              </a:rPr>
              <a:t>Compare the </a:t>
            </a:r>
            <a:r>
              <a:rPr lang="en-US" b="1">
                <a:latin typeface="+mn-lt"/>
                <a:ea typeface="Yu Gothic"/>
                <a:cs typeface="Arial" panose="020B0604020202020204" pitchFamily="34" charset="0"/>
              </a:rPr>
              <a:t>model’s forecast with the actual values</a:t>
            </a:r>
            <a:r>
              <a:rPr lang="en-US">
                <a:latin typeface="+mn-lt"/>
                <a:ea typeface="Yu Gothic"/>
                <a:cs typeface="Arial" panose="020B0604020202020204" pitchFamily="34" charset="0"/>
              </a:rPr>
              <a:t>., and create a calculation for Relevance Evaluation Metrics</a:t>
            </a:r>
            <a:r>
              <a:rPr lang="en-US">
                <a:solidFill>
                  <a:srgbClr val="000000"/>
                </a:solidFill>
                <a:latin typeface="Calibri"/>
              </a:rPr>
              <a:t> (MAPE)</a:t>
            </a:r>
          </a:p>
          <a:p>
            <a:pPr>
              <a:defRPr/>
            </a:pPr>
            <a:r>
              <a:rPr lang="en-US">
                <a:solidFill>
                  <a:srgbClr val="000000"/>
                </a:solidFill>
                <a:latin typeface="Calibri"/>
              </a:rPr>
              <a:t>Each team will be assigned a product - Plot that product Actuals (</a:t>
            </a:r>
            <a:r>
              <a:rPr lang="en-US" err="1">
                <a:solidFill>
                  <a:srgbClr val="000000"/>
                </a:solidFill>
                <a:latin typeface="Calibri"/>
              </a:rPr>
              <a:t>totalamount_local</a:t>
            </a:r>
            <a:r>
              <a:rPr lang="en-US">
                <a:solidFill>
                  <a:srgbClr val="000000"/>
                </a:solidFill>
                <a:latin typeface="Calibri"/>
              </a:rPr>
              <a:t>) with Forecast</a:t>
            </a:r>
            <a:endParaRPr lang="en-US">
              <a:latin typeface="+mn-lt"/>
              <a:ea typeface="Yu Gothic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>
                <a:latin typeface="+mn-lt"/>
                <a:ea typeface="Yu Gothic"/>
                <a:cs typeface="Arial" panose="020B0604020202020204" pitchFamily="34" charset="0"/>
              </a:rPr>
              <a:t>Your score will be based on how close your model aligns with the actuals — the closer your results are to the forecasts across components, , the higher your accuracy</a:t>
            </a:r>
          </a:p>
          <a:p>
            <a:pPr marL="0" indent="0">
              <a:buNone/>
              <a:defRPr/>
            </a:pPr>
            <a:endParaRPr lang="en-US" b="1">
              <a:latin typeface="Consolas"/>
              <a:ea typeface="Yu Gothic"/>
              <a:cs typeface="Calibri Light"/>
            </a:endParaRPr>
          </a:p>
          <a:p>
            <a:pPr marL="0" indent="0">
              <a:buNone/>
              <a:defRPr/>
            </a:pPr>
            <a:endParaRPr lang="en-US" sz="180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6DC366AB-B78E-CAFA-F1C0-C6A17415B3F4}"/>
              </a:ext>
            </a:extLst>
          </p:cNvPr>
          <p:cNvSpPr txBox="1">
            <a:spLocks/>
          </p:cNvSpPr>
          <p:nvPr/>
        </p:nvSpPr>
        <p:spPr>
          <a:xfrm>
            <a:off x="182123" y="514503"/>
            <a:ext cx="8138160" cy="3404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cs typeface="Calibri Light"/>
              </a:rPr>
              <a:t>Expected Outcome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82872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i Icon On Hand Represents The Machine Learning Control Virtual Icons  Represent Exchange Of Artificial Intelligence Brains With Humans Exchange  Of Technology To Connect The Human Network Of Idea Stock Photo -">
            <a:extLst>
              <a:ext uri="{FF2B5EF4-FFF2-40B4-BE49-F238E27FC236}">
                <a16:creationId xmlns:a16="http://schemas.microsoft.com/office/drawing/2014/main" id="{61D67033-87EE-3266-2D9A-D92F53E72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0"/>
            <a:ext cx="58293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0ACB6124-083A-50B4-773D-CDCBFA62563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Yu Gothic"/>
              <a:cs typeface="Calibri Light" panose="020F03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2B3868-95E5-BB54-9E8A-7248A6BFD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1" y="0"/>
            <a:ext cx="342900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584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1,"isValidatorEnabled":false,"isLocked":false,"elementsMetadata":[],"slideId":"1267840777025486850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267840777025486853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1267840777025486848","enableDocumentContentUpdater":false,"version":"2.0"}]]></TemplafySlideTemplateConfiguration>
</file>

<file path=customXml/item7.xml><?xml version="1.0" encoding="utf-8"?>
<TemplafyFormConfiguration><![CDATA[{"formFields":[],"formDataEntries":[]}]]></Templafy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12.xml><?xml version="1.0" encoding="utf-8"?>
<TemplafySlideTemplateConfiguration><![CDATA[{"slideVersion":1,"isValidatorEnabled":false,"isLocked":false,"elementsMetadata":[],"slideId":"1267840777025486851","enableDocumentContentUpdater":false,"version":"2.0"}]]></TemplafySlideTemplateConfiguration>
</file>

<file path=customXml/item13.xml><?xml version="1.0" encoding="utf-8"?>
<TemplafySlideTemplateConfiguration><![CDATA[{"slideVersion":1,"isValidatorEnabled":false,"isLocked":false,"elementsMetadata":[],"slideId":"1267840777025486849","enableDocumentContentUpdater":fals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27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TemplateConfiguration><![CDATA[{"slideVersion":1,"isValidatorEnabled":false,"isLocked":false,"elementsMetadata":[],"slideId":"1044688741783830532","enableDocumentContentUpdater":false,"version":"2.0"}]]></TemplafySlideTemplateConfiguration>
</file>

<file path=customXml/item30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1EEB487-3A98-4BB3-9C32-E1BF7CB2B049}">
  <ds:schemaRefs/>
</ds:datastoreItem>
</file>

<file path=customXml/itemProps2.xml><?xml version="1.0" encoding="utf-8"?>
<ds:datastoreItem xmlns:ds="http://schemas.openxmlformats.org/officeDocument/2006/customXml" ds:itemID="{AD47EACD-E635-49D4-A097-0E43F0B85C6E}">
  <ds:schemaRefs/>
</ds:datastoreItem>
</file>

<file path=customXml/itemProps3.xml><?xml version="1.0" encoding="utf-8"?>
<ds:datastoreItem xmlns:ds="http://schemas.openxmlformats.org/officeDocument/2006/customXml" ds:itemID="{BE45EE7F-190A-4156-80B9-28508EF987A5}">
  <ds:schemaRefs/>
</ds:datastoreItem>
</file>

<file path=customXml/itemProps4.xml><?xml version="1.0" encoding="utf-8"?>
<ds:datastoreItem xmlns:ds="http://schemas.openxmlformats.org/officeDocument/2006/customXml" ds:itemID="{91AB6EA3-3FA0-48D1-A667-58CAAF3B0157}">
  <ds:schemaRefs/>
</ds:datastoreItem>
</file>

<file path=customXml/itemProps5.xml><?xml version="1.0" encoding="utf-8"?>
<ds:datastoreItem xmlns:ds="http://schemas.openxmlformats.org/officeDocument/2006/customXml" ds:itemID="{6BF8525C-62B9-4321-91B7-FFEFD4A5025A}">
  <ds:schemaRefs/>
</ds:datastoreItem>
</file>

<file path=customXml/itemProps6.xml><?xml version="1.0" encoding="utf-8"?>
<ds:datastoreItem xmlns:ds="http://schemas.openxmlformats.org/officeDocument/2006/customXml" ds:itemID="{12862C41-9AA5-4054-B274-571189BF0734}">
  <ds:schemaRefs/>
</ds:datastoreItem>
</file>

<file path=customXml/itemProps7.xml><?xml version="1.0" encoding="utf-8"?>
<ds:datastoreItem xmlns:ds="http://schemas.openxmlformats.org/officeDocument/2006/customXml" ds:itemID="{758FF650-907C-428F-AD7B-6BA9D849A6CB}">
  <ds:schemaRefs/>
</ds:datastoreItem>
</file>

<file path=customXml/itemProps8.xml><?xml version="1.0" encoding="utf-8"?>
<ds:datastoreItem xmlns:ds="http://schemas.openxmlformats.org/officeDocument/2006/customXml" ds:itemID="{7C1683C8-DC40-4BCD-9B06-1DD2525FB765}">
  <ds:schemaRefs/>
</ds:datastoreItem>
</file>

<file path=customXml/itemProps9.xml><?xml version="1.0" encoding="utf-8"?>
<ds:datastoreItem xmlns:ds="http://schemas.openxmlformats.org/officeDocument/2006/customXml" ds:itemID="{BFBCB3F7-860C-40CC-8532-A042390E68D6}">
  <ds:schemaRefs/>
</ds:datastoreItem>
</file>

<file path=customXml/itemProps10.xml><?xml version="1.0" encoding="utf-8"?>
<ds:datastoreItem xmlns:ds="http://schemas.openxmlformats.org/officeDocument/2006/customXml" ds:itemID="{4198D9F2-3AA6-4BD9-B099-428B8E1FD65E}">
  <ds:schemaRefs/>
</ds:datastoreItem>
</file>

<file path=customXml/itemProps11.xml><?xml version="1.0" encoding="utf-8"?>
<ds:datastoreItem xmlns:ds="http://schemas.openxmlformats.org/officeDocument/2006/customXml" ds:itemID="{B2E38FC4-1533-4A92-B582-8C6E853F1307}">
  <ds:schemaRefs/>
</ds:datastoreItem>
</file>

<file path=customXml/itemProps12.xml><?xml version="1.0" encoding="utf-8"?>
<ds:datastoreItem xmlns:ds="http://schemas.openxmlformats.org/officeDocument/2006/customXml" ds:itemID="{316B6761-9520-4C53-9CDB-7A06714FB9AD}">
  <ds:schemaRefs/>
</ds:datastoreItem>
</file>

<file path=customXml/itemProps13.xml><?xml version="1.0" encoding="utf-8"?>
<ds:datastoreItem xmlns:ds="http://schemas.openxmlformats.org/officeDocument/2006/customXml" ds:itemID="{62240D67-2A93-41BD-81EB-B53980048919}">
  <ds:schemaRefs/>
</ds:datastoreItem>
</file>

<file path=customXml/itemProps14.xml><?xml version="1.0" encoding="utf-8"?>
<ds:datastoreItem xmlns:ds="http://schemas.openxmlformats.org/officeDocument/2006/customXml" ds:itemID="{A6B36AB5-24CA-4029-9FB5-25F24ED71B7F}">
  <ds:schemaRefs/>
</ds:datastoreItem>
</file>

<file path=customXml/itemProps15.xml><?xml version="1.0" encoding="utf-8"?>
<ds:datastoreItem xmlns:ds="http://schemas.openxmlformats.org/officeDocument/2006/customXml" ds:itemID="{570645B4-556D-4E54-8511-4F99621600DF}">
  <ds:schemaRefs/>
</ds:datastoreItem>
</file>

<file path=customXml/itemProps16.xml><?xml version="1.0" encoding="utf-8"?>
<ds:datastoreItem xmlns:ds="http://schemas.openxmlformats.org/officeDocument/2006/customXml" ds:itemID="{85CB3D32-4D5F-465E-9DFC-CF800F6BD736}">
  <ds:schemaRefs/>
</ds:datastoreItem>
</file>

<file path=customXml/itemProps17.xml><?xml version="1.0" encoding="utf-8"?>
<ds:datastoreItem xmlns:ds="http://schemas.openxmlformats.org/officeDocument/2006/customXml" ds:itemID="{F56E1329-380B-46C8-9523-1BC65F5FEA6A}">
  <ds:schemaRefs/>
</ds:datastoreItem>
</file>

<file path=customXml/itemProps18.xml><?xml version="1.0" encoding="utf-8"?>
<ds:datastoreItem xmlns:ds="http://schemas.openxmlformats.org/officeDocument/2006/customXml" ds:itemID="{832480CE-682D-47A0-B349-6A2D9423893F}">
  <ds:schemaRefs/>
</ds:datastoreItem>
</file>

<file path=customXml/itemProps19.xml><?xml version="1.0" encoding="utf-8"?>
<ds:datastoreItem xmlns:ds="http://schemas.openxmlformats.org/officeDocument/2006/customXml" ds:itemID="{178CA386-639F-4FF0-95DE-721DABA3F73A}">
  <ds:schemaRefs/>
</ds:datastoreItem>
</file>

<file path=customXml/itemProps20.xml><?xml version="1.0" encoding="utf-8"?>
<ds:datastoreItem xmlns:ds="http://schemas.openxmlformats.org/officeDocument/2006/customXml" ds:itemID="{8C485476-D24C-4C05-8725-F805ED982173}">
  <ds:schemaRefs/>
</ds:datastoreItem>
</file>

<file path=customXml/itemProps21.xml><?xml version="1.0" encoding="utf-8"?>
<ds:datastoreItem xmlns:ds="http://schemas.openxmlformats.org/officeDocument/2006/customXml" ds:itemID="{03B6C7D7-8A2C-4B5D-99DB-2D3D9E357E3D}">
  <ds:schemaRefs/>
</ds:datastoreItem>
</file>

<file path=customXml/itemProps22.xml><?xml version="1.0" encoding="utf-8"?>
<ds:datastoreItem xmlns:ds="http://schemas.openxmlformats.org/officeDocument/2006/customXml" ds:itemID="{C277C966-6ADB-489D-9CE4-7B4762A0446F}">
  <ds:schemaRefs/>
</ds:datastoreItem>
</file>

<file path=customXml/itemProps23.xml><?xml version="1.0" encoding="utf-8"?>
<ds:datastoreItem xmlns:ds="http://schemas.openxmlformats.org/officeDocument/2006/customXml" ds:itemID="{8D80E0AF-44EC-4ADF-A3AE-1A7A0D0F72AE}">
  <ds:schemaRefs/>
</ds:datastoreItem>
</file>

<file path=customXml/itemProps24.xml><?xml version="1.0" encoding="utf-8"?>
<ds:datastoreItem xmlns:ds="http://schemas.openxmlformats.org/officeDocument/2006/customXml" ds:itemID="{04B30EF8-66E3-4A4D-8C5E-DD32BEC0D840}">
  <ds:schemaRefs/>
</ds:datastoreItem>
</file>

<file path=customXml/itemProps25.xml><?xml version="1.0" encoding="utf-8"?>
<ds:datastoreItem xmlns:ds="http://schemas.openxmlformats.org/officeDocument/2006/customXml" ds:itemID="{349F6BC6-1077-48CF-8FCF-0A4E723BC7DC}">
  <ds:schemaRefs/>
</ds:datastoreItem>
</file>

<file path=customXml/itemProps26.xml><?xml version="1.0" encoding="utf-8"?>
<ds:datastoreItem xmlns:ds="http://schemas.openxmlformats.org/officeDocument/2006/customXml" ds:itemID="{A76D6730-3130-4DDB-8E2D-C0C79D3A1E75}">
  <ds:schemaRefs/>
</ds:datastoreItem>
</file>

<file path=customXml/itemProps27.xml><?xml version="1.0" encoding="utf-8"?>
<ds:datastoreItem xmlns:ds="http://schemas.openxmlformats.org/officeDocument/2006/customXml" ds:itemID="{6808B989-DCE5-4D9A-8CC1-9A9C089A8E15}">
  <ds:schemaRefs/>
</ds:datastoreItem>
</file>

<file path=customXml/itemProps28.xml><?xml version="1.0" encoding="utf-8"?>
<ds:datastoreItem xmlns:ds="http://schemas.openxmlformats.org/officeDocument/2006/customXml" ds:itemID="{C3BFD320-A044-46FC-B746-3F0204B052A1}">
  <ds:schemaRefs/>
</ds:datastoreItem>
</file>

<file path=customXml/itemProps29.xml><?xml version="1.0" encoding="utf-8"?>
<ds:datastoreItem xmlns:ds="http://schemas.openxmlformats.org/officeDocument/2006/customXml" ds:itemID="{0B6A63CF-5F81-4213-80A6-80DAACF69EA5}">
  <ds:schemaRefs/>
</ds:datastoreItem>
</file>

<file path=customXml/itemProps30.xml><?xml version="1.0" encoding="utf-8"?>
<ds:datastoreItem xmlns:ds="http://schemas.openxmlformats.org/officeDocument/2006/customXml" ds:itemID="{0EE67D1C-F182-47ED-BB8D-C90F159444D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1267</Words>
  <Application>Microsoft Office PowerPoint</Application>
  <PresentationFormat>On-screen Show (16:9)</PresentationFormat>
  <Paragraphs>145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Yu Gothic</vt:lpstr>
      <vt:lpstr>Calibri</vt:lpstr>
      <vt:lpstr>Calibri Light</vt:lpstr>
      <vt:lpstr>Consolas</vt:lpstr>
      <vt:lpstr>Segoe UI</vt:lpstr>
      <vt:lpstr>Slide Master Only: November 2024</vt:lpstr>
      <vt:lpstr>think-cell Slide</vt:lpstr>
      <vt:lpstr>PowerPoint Presentation</vt:lpstr>
      <vt:lpstr>Facility Information &amp; Accessibility</vt:lpstr>
      <vt:lpstr>Resource Allocation AI Agent</vt:lpstr>
      <vt:lpstr>AI Agent - Use Case</vt:lpstr>
      <vt:lpstr>Outlier / Anomaly Detection</vt:lpstr>
      <vt:lpstr>PowerPoint Presentation</vt:lpstr>
      <vt:lpstr>Expected Steps to be performed</vt:lpstr>
      <vt:lpstr>Sales Forecasting</vt:lpstr>
      <vt:lpstr>Expected Steps to be performed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>R, Ravishankar</dc:creator>
  <cp:keywords/>
  <dc:description/>
  <cp:lastModifiedBy>R, Ravishankar</cp:lastModifiedBy>
  <cp:revision>1</cp:revision>
  <dcterms:created xsi:type="dcterms:W3CDTF">2025-09-08T03:13:49Z</dcterms:created>
  <dcterms:modified xsi:type="dcterms:W3CDTF">2025-11-15T03:31:14Z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2025-09-05T06:54:52</vt:lpwstr>
  </property>
  <property fmtid="{D5CDD505-2E9C-101B-9397-08002B2CF9AE}" pid="3" name="TemplafyTenantId">
    <vt:lpwstr>philips</vt:lpwstr>
  </property>
  <property fmtid="{D5CDD505-2E9C-101B-9397-08002B2CF9AE}" pid="4" name="TemplafyTemplateId">
    <vt:lpwstr>1267840776996651068</vt:lpwstr>
  </property>
  <property fmtid="{D5CDD505-2E9C-101B-9397-08002B2CF9AE}" pid="5" name="TemplafyUserProfileId">
    <vt:lpwstr>1152403445671526439</vt:lpwstr>
  </property>
  <property fmtid="{D5CDD505-2E9C-101B-9397-08002B2CF9AE}" pid="6" name="TemplafyFromBlank">
    <vt:bool>true</vt:bool>
  </property>
</Properties>
</file>